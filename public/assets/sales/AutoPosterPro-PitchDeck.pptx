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a7f274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15430" y="1251645"/>
            <a:ext cx="371299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</a:t>
            </a:r>
            <a:pPr algn="ctr" indent="0" marL="0">
              <a:lnSpc>
                <a:spcPts val="42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2023958" y="2127945"/>
            <a:ext cx="509608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3000"/>
              </a:spcAft>
              <a:buNone/>
            </a:pPr>
            <a:r>
              <a:rPr lang="en-US" sz="2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to Facebook Marketplace </a:t>
            </a:r>
            <a:pPr algn="ctr" indent="0" marL="0">
              <a:lnSpc>
                <a:spcPts val="2940"/>
              </a:lnSpc>
              <a:spcAft>
                <a:spcPts val="3000"/>
              </a:spcAft>
              <a:buNone/>
            </a:pPr>
            <a:r>
              <a:rPr lang="en-US" sz="2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 Faster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737866" y="3034605"/>
            <a:ext cx="1408361" cy="381000"/>
          </a:xfrm>
          <a:prstGeom prst="roundRect">
            <a:avLst>
              <a:gd name="adj" fmla="val 75000"/>
            </a:avLst>
          </a:prstGeom>
          <a:solidFill>
            <a:srgbClr val="7C3AED">
              <a:alpha val="20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336727" y="3034605"/>
            <a:ext cx="1754237" cy="381000"/>
          </a:xfrm>
          <a:prstGeom prst="roundRect">
            <a:avLst>
              <a:gd name="adj" fmla="val 75000"/>
            </a:avLst>
          </a:prstGeom>
          <a:solidFill>
            <a:srgbClr val="F97316">
              <a:alpha val="20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281464" y="3034605"/>
            <a:ext cx="2124521" cy="381000"/>
          </a:xfrm>
          <a:prstGeom prst="roundRect">
            <a:avLst>
              <a:gd name="adj" fmla="val 75000"/>
            </a:avLst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561438" y="4754910"/>
            <a:ext cx="20209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by 100+ Canadian Dealerships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e2717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81000" y="1009650"/>
            <a:ext cx="5334000" cy="735211"/>
          </a:xfrm>
          <a:prstGeom prst="rect">
            <a:avLst/>
          </a:prstGeom>
          <a:solidFill>
            <a:srgbClr val="1A14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00050" y="1009650"/>
            <a:ext cx="0" cy="73521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9600" y="1162050"/>
            <a:ext cx="5013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Manual posting takes 15-20 minutes per vehicle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609600" y="1419225"/>
            <a:ext cx="50131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details, download photos, re-upload, write descriptions...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381000" y="1897261"/>
            <a:ext cx="5334000" cy="735211"/>
          </a:xfrm>
          <a:prstGeom prst="rect">
            <a:avLst/>
          </a:prstGeom>
          <a:solidFill>
            <a:srgbClr val="1A14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00050" y="1897261"/>
            <a:ext cx="0" cy="73521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9600" y="2049661"/>
            <a:ext cx="5013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Duplicate content triggers shadowbans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609600" y="2306836"/>
            <a:ext cx="50131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flags repeated descriptions, limiting your reach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381000" y="2784872"/>
            <a:ext cx="5334000" cy="735211"/>
          </a:xfrm>
          <a:prstGeom prst="rect">
            <a:avLst/>
          </a:prstGeom>
          <a:solidFill>
            <a:srgbClr val="1A14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2784872"/>
            <a:ext cx="0" cy="73521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9600" y="2937272"/>
            <a:ext cx="5013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Staff time = money walking out the door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609600" y="3194447"/>
            <a:ext cx="50131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should be selling, not typing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381000" y="3672483"/>
            <a:ext cx="5334000" cy="735211"/>
          </a:xfrm>
          <a:prstGeom prst="rect">
            <a:avLst/>
          </a:prstGeom>
          <a:solidFill>
            <a:srgbClr val="1A14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00050" y="3672483"/>
            <a:ext cx="0" cy="73521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9600" y="3824883"/>
            <a:ext cx="5013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😤 Inconsistent, boring listings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609600" y="4082058"/>
            <a:ext cx="50131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descriptions don't sell cars</a:t>
            </a:r>
            <a:endParaRPr lang="en-US" sz="975" dirty="0"/>
          </a:p>
        </p:txBody>
      </p:sp>
      <p:pic>
        <p:nvPicPr>
          <p:cNvPr id="20" name="Image 1" descr="/tmp/rasterized-gradient-886b1f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09650"/>
            <a:ext cx="2667000" cy="3480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30709" y="1304925"/>
            <a:ext cx="7975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5400" dirty="0"/>
          </a:p>
        </p:txBody>
      </p:sp>
      <p:sp>
        <p:nvSpPr>
          <p:cNvPr id="22" name="Text 18"/>
          <p:cNvSpPr/>
          <p:nvPr/>
        </p:nvSpPr>
        <p:spPr>
          <a:xfrm>
            <a:off x="6759890" y="2238375"/>
            <a:ext cx="13392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75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Per Day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695678" y="2733675"/>
            <a:ext cx="146749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on manual posting</a:t>
            </a:r>
            <a:endParaRPr lang="en-US" sz="975" dirty="0"/>
          </a:p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20-car lot</a:t>
            </a:r>
            <a:endParaRPr lang="en-US" sz="975" dirty="0"/>
          </a:p>
        </p:txBody>
      </p:sp>
      <p:sp>
        <p:nvSpPr>
          <p:cNvPr id="24" name="Shape 20"/>
          <p:cNvSpPr/>
          <p:nvPr/>
        </p:nvSpPr>
        <p:spPr>
          <a:xfrm>
            <a:off x="6862167" y="3427809"/>
            <a:ext cx="1134517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850822" y="3623072"/>
            <a:ext cx="115720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$90+/day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6850822" y="4034433"/>
            <a:ext cx="11572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lost productivity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1de9c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3000" dirty="0"/>
          </a:p>
        </p:txBody>
      </p:sp>
      <p:pic>
        <p:nvPicPr>
          <p:cNvPr id="4" name="Image 1" descr="/tmp/rasterized-gradient-8c9b387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09650"/>
            <a:ext cx="8382000" cy="10915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8361" y="1247775"/>
            <a:ext cx="79472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AutoPosterPro automates your entire Marketplace workflow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98361" y="1663005"/>
            <a:ext cx="7947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750"/>
              </a:spcBef>
              <a:buNone/>
            </a:pPr>
            <a:r>
              <a:rPr lang="en-US" sz="112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Chrome extension that posts vehicles in </a:t>
            </a:r>
            <a:pPr algn="ctr" indent="0" marL="0">
              <a:lnSpc>
                <a:spcPts val="1575"/>
              </a:lnSpc>
              <a:spcBef>
                <a:spcPts val="750"/>
              </a:spcBef>
              <a:buNone/>
            </a:pPr>
            <a:r>
              <a:rPr lang="en-US" sz="112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</a:t>
            </a:r>
            <a:pPr algn="ctr" indent="0" marL="0">
              <a:lnSpc>
                <a:spcPts val="1575"/>
              </a:lnSpc>
              <a:spcBef>
                <a:spcPts val="750"/>
              </a:spcBef>
              <a:buNone/>
            </a:pPr>
            <a:r>
              <a:rPr lang="en-US" sz="112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instead of 15 minutes</a:t>
            </a:r>
            <a:endParaRPr lang="en-US" sz="1125" dirty="0"/>
          </a:p>
        </p:txBody>
      </p:sp>
      <p:sp>
        <p:nvSpPr>
          <p:cNvPr id="7" name="Text 3"/>
          <p:cNvSpPr/>
          <p:nvPr/>
        </p:nvSpPr>
        <p:spPr>
          <a:xfrm>
            <a:off x="381000" y="2575768"/>
            <a:ext cx="1981200" cy="2035969"/>
          </a:xfrm>
          <a:prstGeom prst="roundRect">
            <a:avLst>
              <a:gd name="adj" fmla="val 7692"/>
            </a:avLst>
          </a:prstGeom>
          <a:solidFill>
            <a:srgbClr val="1A1425"/>
          </a:solidFill>
          <a:ln w="9525">
            <a:solidFill>
              <a:srgbClr val="2D26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81025" y="2775793"/>
            <a:ext cx="161277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75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81025" y="3450134"/>
            <a:ext cx="16127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Descriptions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81025" y="3892004"/>
            <a:ext cx="1612773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Unique, engaging copy for every vehicle. Never trigger duplicate flags again.</a:t>
            </a:r>
            <a:endParaRPr lang="en-US" sz="975" dirty="0"/>
          </a:p>
        </p:txBody>
      </p:sp>
      <p:sp>
        <p:nvSpPr>
          <p:cNvPr id="11" name="Text 7"/>
          <p:cNvSpPr/>
          <p:nvPr/>
        </p:nvSpPr>
        <p:spPr>
          <a:xfrm>
            <a:off x="2514600" y="2575768"/>
            <a:ext cx="1981200" cy="2035969"/>
          </a:xfrm>
          <a:prstGeom prst="roundRect">
            <a:avLst>
              <a:gd name="adj" fmla="val 7692"/>
            </a:avLst>
          </a:prstGeom>
          <a:solidFill>
            <a:srgbClr val="1A1425"/>
          </a:solidFill>
          <a:ln w="9525">
            <a:solidFill>
              <a:srgbClr val="2D26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714625" y="2775793"/>
            <a:ext cx="161277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75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2714625" y="3450134"/>
            <a:ext cx="16127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Image Transfer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14625" y="3892004"/>
            <a:ext cx="1612773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move directly from your DMS to Marketplace. Zero downloads.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4648200" y="2575768"/>
            <a:ext cx="1981200" cy="2035969"/>
          </a:xfrm>
          <a:prstGeom prst="roundRect">
            <a:avLst>
              <a:gd name="adj" fmla="val 7692"/>
            </a:avLst>
          </a:prstGeom>
          <a:solidFill>
            <a:srgbClr val="1A1425"/>
          </a:solidFill>
          <a:ln w="9525">
            <a:solidFill>
              <a:srgbClr val="2D26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848225" y="2775793"/>
            <a:ext cx="161277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75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4848225" y="3450134"/>
            <a:ext cx="16127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Posting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48225" y="3892004"/>
            <a:ext cx="1612773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 any VDP page and post instantly. It's that simple.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6781800" y="2469059"/>
            <a:ext cx="1981200" cy="2249239"/>
          </a:xfrm>
          <a:prstGeom prst="roundRect">
            <a:avLst>
              <a:gd name="adj" fmla="val 7692"/>
            </a:avLst>
          </a:prstGeom>
          <a:solidFill>
            <a:srgbClr val="1A1425"/>
          </a:solidFill>
          <a:ln w="9525">
            <a:solidFill>
              <a:srgbClr val="2D26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981825" y="2669084"/>
            <a:ext cx="161277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75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6981825" y="3343424"/>
            <a:ext cx="161277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Shadowban Protection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981825" y="3998565"/>
            <a:ext cx="1612773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ensures every post is unique, keeping your account safe.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12eb9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</a:t>
            </a:r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285750" y="742950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simple steps to 10x your posting speed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76250" y="1394371"/>
            <a:ext cx="2140000" cy="3368129"/>
          </a:xfrm>
          <a:prstGeom prst="roundRect">
            <a:avLst>
              <a:gd name="adj" fmla="val 8902"/>
            </a:avLst>
          </a:prstGeom>
          <a:solidFill>
            <a:srgbClr val="1A1425"/>
          </a:solidFill>
          <a:ln w="9525">
            <a:solidFill>
              <a:srgbClr val="2D26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14375" y="1261021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88802" y="1339155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14375" y="1948904"/>
            <a:ext cx="1697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Extension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4375" y="2329904"/>
            <a:ext cx="1697025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AutoPosterPro to Chrome in one click. Enter your license key. Done!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14375" y="3160216"/>
            <a:ext cx="1663750" cy="1020961"/>
          </a:xfrm>
          <a:prstGeom prst="roundRect">
            <a:avLst>
              <a:gd name="adj" fmla="val 11195"/>
            </a:avLst>
          </a:prstGeom>
          <a:solidFill>
            <a:srgbClr val="0F0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53186" y="3312616"/>
            <a:ext cx="138612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853186" y="3868787"/>
            <a:ext cx="13861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Web Store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97738" y="4333577"/>
            <a:ext cx="16970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200"/>
              </a:spcBef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2-minute setup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902000" y="2865090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492550" y="1394371"/>
            <a:ext cx="2140000" cy="3368129"/>
          </a:xfrm>
          <a:prstGeom prst="roundRect">
            <a:avLst>
              <a:gd name="adj" fmla="val 8902"/>
            </a:avLst>
          </a:prstGeom>
          <a:solidFill>
            <a:srgbClr val="1A1425"/>
          </a:solidFill>
          <a:ln w="9525">
            <a:solidFill>
              <a:srgbClr val="2D26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730675" y="1261021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905101" y="1339155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730675" y="1948904"/>
            <a:ext cx="1697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"Scrape"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730675" y="2329904"/>
            <a:ext cx="1697025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any vehicle detail page on your website. Click the extension button.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730675" y="3160216"/>
            <a:ext cx="1663750" cy="1020961"/>
          </a:xfrm>
          <a:prstGeom prst="roundRect">
            <a:avLst>
              <a:gd name="adj" fmla="val 11195"/>
            </a:avLst>
          </a:prstGeom>
          <a:solidFill>
            <a:srgbClr val="0F0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869485" y="3312616"/>
            <a:ext cx="138612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3869485" y="3868787"/>
            <a:ext cx="13861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VIN, Price, Photos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714037" y="4333577"/>
            <a:ext cx="16970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200"/>
              </a:spcBef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data captured instantly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918299" y="2865090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pic>
        <p:nvPicPr>
          <p:cNvPr id="25" name="Image 1" descr="/tmp/rasterized-gradient-d5bb5b7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849" y="1394371"/>
            <a:ext cx="2159050" cy="3368129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756499" y="1270546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930926" y="1348680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6756499" y="1815703"/>
            <a:ext cx="16970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to Marketplace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6756499" y="2463403"/>
            <a:ext cx="1697025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unique description. Photos transfer automatically. Click post!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6756499" y="3293715"/>
            <a:ext cx="1663750" cy="1020961"/>
          </a:xfrm>
          <a:prstGeom prst="roundRect">
            <a:avLst>
              <a:gd name="adj" fmla="val 11195"/>
            </a:avLst>
          </a:prstGeom>
          <a:solidFill>
            <a:srgbClr val="0F0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895310" y="3446115"/>
            <a:ext cx="138612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700" dirty="0"/>
          </a:p>
        </p:txBody>
      </p:sp>
      <p:sp>
        <p:nvSpPr>
          <p:cNvPr id="32" name="Text 28"/>
          <p:cNvSpPr/>
          <p:nvPr/>
        </p:nvSpPr>
        <p:spPr>
          <a:xfrm>
            <a:off x="6895310" y="4002286"/>
            <a:ext cx="13861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Facebook!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739862" y="4467076"/>
            <a:ext cx="16970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200"/>
              </a:spcBef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 in 30 seconds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57016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38125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</a:t>
            </a:r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85750" y="638175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$30/hour labor cost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000" y="1445270"/>
            <a:ext cx="53435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381000" y="1713756"/>
            <a:ext cx="5238750" cy="986433"/>
          </a:xfrm>
          <a:prstGeom prst="roundRect">
            <a:avLst>
              <a:gd name="adj" fmla="val 11587"/>
            </a:avLst>
          </a:prstGeom>
          <a:solidFill>
            <a:srgbClr val="1A1425"/>
          </a:solidFill>
          <a:ln w="9525">
            <a:solidFill>
              <a:srgbClr val="2D26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23875" y="1856631"/>
            <a:ext cx="11654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posting time: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829919" y="1856631"/>
            <a:ext cx="6598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523875" y="2087017"/>
            <a:ext cx="11301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AutoPosterPro time: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4967585" y="2087017"/>
            <a:ext cx="519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minute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523875" y="2322165"/>
            <a:ext cx="4953000" cy="0"/>
          </a:xfrm>
          <a:prstGeom prst="line">
            <a:avLst/>
          </a:prstGeom>
          <a:noFill/>
          <a:ln w="9525">
            <a:solidFill>
              <a:srgbClr val="2D26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3875" y="2384078"/>
            <a:ext cx="12611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 per post: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4829919" y="2384078"/>
            <a:ext cx="6598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minutes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381000" y="2795439"/>
            <a:ext cx="5238750" cy="1116211"/>
          </a:xfrm>
          <a:prstGeom prst="roundRect">
            <a:avLst>
              <a:gd name="adj" fmla="val 10240"/>
            </a:avLst>
          </a:prstGeom>
          <a:solidFill>
            <a:srgbClr val="1A1425"/>
          </a:solidFill>
          <a:ln w="9525">
            <a:solidFill>
              <a:srgbClr val="2D26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3875" y="2938314"/>
            <a:ext cx="50520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post 20 vehicles/day: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23875" y="3193554"/>
            <a:ext cx="8877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time saved: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12928" y="3193554"/>
            <a:ext cx="8812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 min (4.7 hrs)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23875" y="3401169"/>
            <a:ext cx="10087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time saved: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65204" y="3401169"/>
            <a:ext cx="5219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23+ hours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23875" y="3608784"/>
            <a:ext cx="10368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time saved: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933652" y="3608784"/>
            <a:ext cx="5540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93+ hours</a:t>
            </a:r>
            <a:endParaRPr lang="en-US" sz="900" dirty="0"/>
          </a:p>
        </p:txBody>
      </p:sp>
      <p:pic>
        <p:nvPicPr>
          <p:cNvPr id="22" name="Image 1" descr="/tmp/rasterized-gradient-c642e2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006900"/>
            <a:ext cx="5238750" cy="525661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3875" y="4176415"/>
            <a:ext cx="15687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Value @ $30/hr: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952405" y="4149775"/>
            <a:ext cx="53496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$2,790</a:t>
            </a:r>
            <a:endParaRPr lang="en-US" sz="1350" dirty="0"/>
          </a:p>
        </p:txBody>
      </p:sp>
      <p:pic>
        <p:nvPicPr>
          <p:cNvPr id="25" name="Image 2" descr="/tmp/rasterized-gradient-762776b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1009948"/>
            <a:ext cx="2857500" cy="395793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47678" y="1219498"/>
            <a:ext cx="11729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PLAN ROI</a:t>
            </a:r>
            <a:endParaRPr lang="en-US" sz="825" dirty="0"/>
          </a:p>
        </p:txBody>
      </p:sp>
      <p:sp>
        <p:nvSpPr>
          <p:cNvPr id="27" name="Text 22"/>
          <p:cNvSpPr/>
          <p:nvPr/>
        </p:nvSpPr>
        <p:spPr>
          <a:xfrm>
            <a:off x="6799292" y="1613743"/>
            <a:ext cx="10697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created:</a:t>
            </a:r>
            <a:endParaRPr lang="en-US" sz="975" dirty="0"/>
          </a:p>
        </p:txBody>
      </p:sp>
      <p:sp>
        <p:nvSpPr>
          <p:cNvPr id="28" name="Text 23"/>
          <p:cNvSpPr/>
          <p:nvPr/>
        </p:nvSpPr>
        <p:spPr>
          <a:xfrm>
            <a:off x="6799292" y="1806029"/>
            <a:ext cx="106976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27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$2,790</a:t>
            </a:r>
            <a:endParaRPr lang="en-US" sz="2700" dirty="0"/>
          </a:p>
        </p:txBody>
      </p:sp>
      <p:sp>
        <p:nvSpPr>
          <p:cNvPr id="29" name="Text 24"/>
          <p:cNvSpPr/>
          <p:nvPr/>
        </p:nvSpPr>
        <p:spPr>
          <a:xfrm>
            <a:off x="6799292" y="2362200"/>
            <a:ext cx="10697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cost:</a:t>
            </a:r>
            <a:endParaRPr lang="en-US" sz="975" dirty="0"/>
          </a:p>
        </p:txBody>
      </p:sp>
      <p:sp>
        <p:nvSpPr>
          <p:cNvPr id="30" name="Text 25"/>
          <p:cNvSpPr/>
          <p:nvPr/>
        </p:nvSpPr>
        <p:spPr>
          <a:xfrm>
            <a:off x="6799292" y="2554486"/>
            <a:ext cx="106976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-$219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6115050" y="3141166"/>
            <a:ext cx="2438400" cy="1905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6765590" y="3388816"/>
            <a:ext cx="113732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Monthly Benefit:</a:t>
            </a:r>
            <a:endParaRPr lang="en-US" sz="975" dirty="0"/>
          </a:p>
        </p:txBody>
      </p:sp>
      <p:sp>
        <p:nvSpPr>
          <p:cNvPr id="33" name="Text 28"/>
          <p:cNvSpPr/>
          <p:nvPr/>
        </p:nvSpPr>
        <p:spPr>
          <a:xfrm>
            <a:off x="6739935" y="3714452"/>
            <a:ext cx="11886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$2,571</a:t>
            </a:r>
            <a:endParaRPr lang="en-US" sz="3000" dirty="0"/>
          </a:p>
        </p:txBody>
      </p:sp>
      <p:sp>
        <p:nvSpPr>
          <p:cNvPr id="34" name="Text 29"/>
          <p:cNvSpPr/>
          <p:nvPr/>
        </p:nvSpPr>
        <p:spPr>
          <a:xfrm>
            <a:off x="6896844" y="4476452"/>
            <a:ext cx="874663" cy="281880"/>
          </a:xfrm>
          <a:prstGeom prst="roundRect">
            <a:avLst>
              <a:gd name="adj" fmla="val 67582"/>
            </a:avLst>
          </a:prstGeom>
          <a:solidFill>
            <a:srgbClr val="22C55E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7024115" y="4524077"/>
            <a:ext cx="6201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12.7x ROI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ae7d4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38125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</a:t>
            </a:r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85750" y="638175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that scale with your dealership • Contact us for current promotions!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33375" y="1167705"/>
            <a:ext cx="2692450" cy="3737670"/>
          </a:xfrm>
          <a:prstGeom prst="roundRect">
            <a:avLst>
              <a:gd name="adj" fmla="val 7075"/>
            </a:avLst>
          </a:prstGeom>
          <a:solidFill>
            <a:srgbClr val="1A1425"/>
          </a:solidFill>
          <a:ln w="9525">
            <a:solidFill>
              <a:srgbClr val="2D26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71500" y="1500485"/>
            <a:ext cx="2216200" cy="285750"/>
          </a:xfrm>
          <a:prstGeom prst="roundRect">
            <a:avLst>
              <a:gd name="adj" fmla="val 66667"/>
            </a:avLst>
          </a:prstGeom>
          <a:solidFill>
            <a:srgbClr val="7C3AED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71500" y="2052935"/>
            <a:ext cx="226052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$219</a:t>
            </a:r>
            <a:pPr algn="l" indent="0" marL="0">
              <a:lnSpc>
                <a:spcPts val="378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71500" y="2761506"/>
            <a:ext cx="22605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 small lots</a:t>
            </a:r>
            <a:endParaRPr lang="en-US" sz="975" dirty="0"/>
          </a:p>
        </p:txBody>
      </p:sp>
      <p:sp>
        <p:nvSpPr>
          <p:cNvPr id="9" name="Shape 6"/>
          <p:cNvSpPr/>
          <p:nvPr/>
        </p:nvSpPr>
        <p:spPr>
          <a:xfrm>
            <a:off x="571500" y="3244304"/>
            <a:ext cx="2216200" cy="0"/>
          </a:xfrm>
          <a:prstGeom prst="line">
            <a:avLst/>
          </a:prstGeom>
          <a:noFill/>
          <a:ln w="9525">
            <a:solidFill>
              <a:srgbClr val="2D26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" y="3401467"/>
            <a:ext cx="22605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 User License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571500" y="3650903"/>
            <a:ext cx="22605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AI-Powered Descriptions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71500" y="3900339"/>
            <a:ext cx="22605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Images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571500" y="4149775"/>
            <a:ext cx="22605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Universal VDP Scraper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571500" y="4399211"/>
            <a:ext cx="22605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Email Support</a:t>
            </a:r>
            <a:endParaRPr lang="en-US" sz="975" dirty="0"/>
          </a:p>
        </p:txBody>
      </p:sp>
      <p:pic>
        <p:nvPicPr>
          <p:cNvPr id="15" name="Image 1" descr="/tmp/rasterized-gradient-ed9a5c5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210" y="1130329"/>
            <a:ext cx="2765729" cy="381242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08128" y="1033174"/>
            <a:ext cx="1133070" cy="252603"/>
          </a:xfrm>
          <a:prstGeom prst="roundRect">
            <a:avLst>
              <a:gd name="adj" fmla="val 75415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441813" y="1469764"/>
            <a:ext cx="2260524" cy="291465"/>
          </a:xfrm>
          <a:prstGeom prst="roundRect">
            <a:avLst>
              <a:gd name="adj" fmla="val 65359"/>
            </a:avLst>
          </a:prstGeom>
          <a:solidFill>
            <a:srgbClr val="F9731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441813" y="2033263"/>
            <a:ext cx="2305734" cy="48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$1,199</a:t>
            </a:r>
            <a:pPr algn="l" indent="0" marL="0">
              <a:lnSpc>
                <a:spcPts val="378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3441813" y="2756005"/>
            <a:ext cx="2305734" cy="176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growing teams</a:t>
            </a:r>
            <a:endParaRPr lang="en-US" sz="975" dirty="0"/>
          </a:p>
        </p:txBody>
      </p:sp>
      <p:sp>
        <p:nvSpPr>
          <p:cNvPr id="20" name="Shape 16"/>
          <p:cNvSpPr/>
          <p:nvPr/>
        </p:nvSpPr>
        <p:spPr>
          <a:xfrm>
            <a:off x="3441813" y="3248365"/>
            <a:ext cx="2260524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41813" y="3408765"/>
            <a:ext cx="2305734" cy="176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6-11 User Licenses</a:t>
            </a:r>
            <a:endParaRPr lang="en-US" sz="975" dirty="0"/>
          </a:p>
        </p:txBody>
      </p:sp>
      <p:sp>
        <p:nvSpPr>
          <p:cNvPr id="22" name="Text 18"/>
          <p:cNvSpPr/>
          <p:nvPr/>
        </p:nvSpPr>
        <p:spPr>
          <a:xfrm>
            <a:off x="3441813" y="3663190"/>
            <a:ext cx="2305734" cy="176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Everything in Starter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3441813" y="3917614"/>
            <a:ext cx="2305734" cy="176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Team Onboarding</a:t>
            </a:r>
            <a:endParaRPr lang="en-US" sz="975" dirty="0"/>
          </a:p>
        </p:txBody>
      </p:sp>
      <p:sp>
        <p:nvSpPr>
          <p:cNvPr id="24" name="Text 20"/>
          <p:cNvSpPr/>
          <p:nvPr/>
        </p:nvSpPr>
        <p:spPr>
          <a:xfrm>
            <a:off x="3441813" y="4172040"/>
            <a:ext cx="2305734" cy="17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Priority Support</a:t>
            </a:r>
            <a:endParaRPr lang="en-US" sz="975" dirty="0"/>
          </a:p>
        </p:txBody>
      </p:sp>
      <p:sp>
        <p:nvSpPr>
          <p:cNvPr id="25" name="Text 21"/>
          <p:cNvSpPr/>
          <p:nvPr/>
        </p:nvSpPr>
        <p:spPr>
          <a:xfrm>
            <a:off x="3441813" y="4426464"/>
            <a:ext cx="2305734" cy="17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Usage Analytics</a:t>
            </a:r>
            <a:endParaRPr lang="en-US" sz="975" dirty="0"/>
          </a:p>
        </p:txBody>
      </p:sp>
      <p:sp>
        <p:nvSpPr>
          <p:cNvPr id="26" name="Text 22"/>
          <p:cNvSpPr/>
          <p:nvPr/>
        </p:nvSpPr>
        <p:spPr>
          <a:xfrm>
            <a:off x="6118324" y="1167705"/>
            <a:ext cx="2692450" cy="3737670"/>
          </a:xfrm>
          <a:prstGeom prst="roundRect">
            <a:avLst>
              <a:gd name="adj" fmla="val 7075"/>
            </a:avLst>
          </a:prstGeom>
          <a:solidFill>
            <a:srgbClr val="1A1425"/>
          </a:solidFill>
          <a:ln w="9525">
            <a:solidFill>
              <a:srgbClr val="2D26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356449" y="1500485"/>
            <a:ext cx="2216200" cy="285750"/>
          </a:xfrm>
          <a:prstGeom prst="roundRect">
            <a:avLst>
              <a:gd name="adj" fmla="val 66667"/>
            </a:avLst>
          </a:prstGeom>
          <a:solidFill>
            <a:srgbClr val="22C55E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356449" y="2052935"/>
            <a:ext cx="226052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$1,799</a:t>
            </a:r>
            <a:pPr algn="l" indent="0" marL="0">
              <a:lnSpc>
                <a:spcPts val="378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2700" dirty="0"/>
          </a:p>
        </p:txBody>
      </p:sp>
      <p:sp>
        <p:nvSpPr>
          <p:cNvPr id="29" name="Text 25"/>
          <p:cNvSpPr/>
          <p:nvPr/>
        </p:nvSpPr>
        <p:spPr>
          <a:xfrm>
            <a:off x="6356449" y="2761506"/>
            <a:ext cx="22605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dealer groups</a:t>
            </a:r>
            <a:endParaRPr lang="en-US" sz="975" dirty="0"/>
          </a:p>
        </p:txBody>
      </p:sp>
      <p:sp>
        <p:nvSpPr>
          <p:cNvPr id="30" name="Shape 26"/>
          <p:cNvSpPr/>
          <p:nvPr/>
        </p:nvSpPr>
        <p:spPr>
          <a:xfrm>
            <a:off x="6356449" y="3244304"/>
            <a:ext cx="2216200" cy="0"/>
          </a:xfrm>
          <a:prstGeom prst="line">
            <a:avLst/>
          </a:prstGeom>
          <a:noFill/>
          <a:ln w="9525">
            <a:solidFill>
              <a:srgbClr val="2D264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56449" y="3401467"/>
            <a:ext cx="22605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12-20 User Licenses</a:t>
            </a:r>
            <a:endParaRPr lang="en-US" sz="975" dirty="0"/>
          </a:p>
        </p:txBody>
      </p:sp>
      <p:sp>
        <p:nvSpPr>
          <p:cNvPr id="32" name="Text 28"/>
          <p:cNvSpPr/>
          <p:nvPr/>
        </p:nvSpPr>
        <p:spPr>
          <a:xfrm>
            <a:off x="6356449" y="3650903"/>
            <a:ext cx="22605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Everything in Professional</a:t>
            </a:r>
            <a:endParaRPr lang="en-US" sz="975" dirty="0"/>
          </a:p>
        </p:txBody>
      </p:sp>
      <p:sp>
        <p:nvSpPr>
          <p:cNvPr id="33" name="Text 29"/>
          <p:cNvSpPr/>
          <p:nvPr/>
        </p:nvSpPr>
        <p:spPr>
          <a:xfrm>
            <a:off x="6356449" y="3900339"/>
            <a:ext cx="22605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Dedicated Account Manager</a:t>
            </a:r>
            <a:endParaRPr lang="en-US" sz="975" dirty="0"/>
          </a:p>
        </p:txBody>
      </p:sp>
      <p:sp>
        <p:nvSpPr>
          <p:cNvPr id="34" name="Text 30"/>
          <p:cNvSpPr/>
          <p:nvPr/>
        </p:nvSpPr>
        <p:spPr>
          <a:xfrm>
            <a:off x="6356449" y="4149775"/>
            <a:ext cx="22605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Custom Training Sessions</a:t>
            </a:r>
            <a:endParaRPr lang="en-US" sz="975" dirty="0"/>
          </a:p>
        </p:txBody>
      </p:sp>
      <p:sp>
        <p:nvSpPr>
          <p:cNvPr id="35" name="Text 31"/>
          <p:cNvSpPr/>
          <p:nvPr/>
        </p:nvSpPr>
        <p:spPr>
          <a:xfrm>
            <a:off x="6356449" y="4399211"/>
            <a:ext cx="22605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SLA Guarantee</a:t>
            </a:r>
            <a:endParaRPr lang="en-US" sz="975" dirty="0"/>
          </a:p>
        </p:txBody>
      </p:sp>
      <p:sp>
        <p:nvSpPr>
          <p:cNvPr id="36" name="Text 32"/>
          <p:cNvSpPr/>
          <p:nvPr/>
        </p:nvSpPr>
        <p:spPr>
          <a:xfrm>
            <a:off x="381000" y="4720679"/>
            <a:ext cx="39839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more than 20 users? Contact us for custom pricing. 60-day cancellation policy.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41e5e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Dealers </a:t>
            </a:r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 Us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81000" y="1057275"/>
            <a:ext cx="2641550" cy="3752850"/>
          </a:xfrm>
          <a:prstGeom prst="roundRect">
            <a:avLst>
              <a:gd name="adj" fmla="val 7212"/>
            </a:avLst>
          </a:prstGeom>
          <a:solidFill>
            <a:srgbClr val="1A1425"/>
          </a:solidFill>
          <a:ln w="9525">
            <a:solidFill>
              <a:srgbClr val="2D26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19125" y="1295400"/>
            <a:ext cx="22086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19125" y="1920180"/>
            <a:ext cx="220860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went from posting 5 cars a day to 50+. The AI descriptions are actually better than what we were writing manually. </a:t>
            </a:r>
            <a:pPr algn="l" indent="0" marL="0">
              <a:lnSpc>
                <a:spcPts val="1800"/>
              </a:lnSpc>
              <a:buNone/>
            </a:pPr>
            <a:r>
              <a:rPr lang="en-US" sz="1125" b="1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changer!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125" dirty="0"/>
          </a:p>
        </p:txBody>
      </p:sp>
      <p:sp>
        <p:nvSpPr>
          <p:cNvPr id="7" name="Shape 4"/>
          <p:cNvSpPr/>
          <p:nvPr/>
        </p:nvSpPr>
        <p:spPr>
          <a:xfrm>
            <a:off x="619125" y="3965377"/>
            <a:ext cx="2165300" cy="0"/>
          </a:xfrm>
          <a:prstGeom prst="line">
            <a:avLst/>
          </a:prstGeom>
          <a:noFill/>
          <a:ln w="9525">
            <a:solidFill>
              <a:srgbClr val="2D26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9125" y="4160639"/>
            <a:ext cx="2208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Mike Johnson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619125" y="4398764"/>
            <a:ext cx="22086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 Motors, Calgary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3251150" y="1057275"/>
            <a:ext cx="2641550" cy="3752850"/>
          </a:xfrm>
          <a:prstGeom prst="roundRect">
            <a:avLst>
              <a:gd name="adj" fmla="val 7212"/>
            </a:avLst>
          </a:prstGeom>
          <a:solidFill>
            <a:srgbClr val="1A1425"/>
          </a:solidFill>
          <a:ln w="9525">
            <a:solidFill>
              <a:srgbClr val="2D26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489275" y="1295400"/>
            <a:ext cx="22086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489275" y="1920180"/>
            <a:ext cx="22086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time savings are incredible. My team used to spend 3 hours a day on Marketplace. Now it's </a:t>
            </a:r>
            <a:pPr algn="l" indent="0" marL="0">
              <a:lnSpc>
                <a:spcPts val="1800"/>
              </a:lnSpc>
              <a:buNone/>
            </a:pPr>
            <a:r>
              <a:rPr lang="en-US" sz="1125" b="1" i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minutes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Worth every penny."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3489275" y="3965377"/>
            <a:ext cx="2165300" cy="0"/>
          </a:xfrm>
          <a:prstGeom prst="line">
            <a:avLst/>
          </a:prstGeom>
          <a:noFill/>
          <a:ln w="9525">
            <a:solidFill>
              <a:srgbClr val="2D26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89275" y="4160639"/>
            <a:ext cx="2208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Williams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3489275" y="4398764"/>
            <a:ext cx="22086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Auto Group, Vancouver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6121301" y="1057275"/>
            <a:ext cx="2641550" cy="3752850"/>
          </a:xfrm>
          <a:prstGeom prst="roundRect">
            <a:avLst>
              <a:gd name="adj" fmla="val 7212"/>
            </a:avLst>
          </a:prstGeom>
          <a:solidFill>
            <a:srgbClr val="1A1425"/>
          </a:solidFill>
          <a:ln w="9525">
            <a:solidFill>
              <a:srgbClr val="2D26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359426" y="1295400"/>
            <a:ext cx="22086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359426" y="1920180"/>
            <a:ext cx="220860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"Finally, software that actually works as advertised. Setup was easy and </a:t>
            </a:r>
            <a:pPr algn="l" indent="0" marL="0">
              <a:lnSpc>
                <a:spcPts val="1800"/>
              </a:lnSpc>
              <a:buNone/>
            </a:pPr>
            <a:r>
              <a:rPr lang="en-US" sz="1125" b="1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is top-notch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Highly recommend for any dealer."</a:t>
            </a:r>
            <a:endParaRPr lang="en-US" sz="1125" dirty="0"/>
          </a:p>
        </p:txBody>
      </p:sp>
      <p:sp>
        <p:nvSpPr>
          <p:cNvPr id="19" name="Shape 16"/>
          <p:cNvSpPr/>
          <p:nvPr/>
        </p:nvSpPr>
        <p:spPr>
          <a:xfrm>
            <a:off x="6359426" y="3965377"/>
            <a:ext cx="2165300" cy="0"/>
          </a:xfrm>
          <a:prstGeom prst="line">
            <a:avLst/>
          </a:prstGeom>
          <a:noFill/>
          <a:ln w="9525">
            <a:solidFill>
              <a:srgbClr val="2D26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9426" y="4160639"/>
            <a:ext cx="2208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Davis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6359426" y="4398764"/>
            <a:ext cx="22086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Cars, Toronto</a:t>
            </a:r>
            <a:endParaRPr lang="en-US" sz="975" dirty="0"/>
          </a:p>
        </p:txBody>
      </p:sp>
      <p:pic>
        <p:nvPicPr>
          <p:cNvPr id="22" name="Image 1" descr="/tmp/rasterized-gradient-47d9ff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95825"/>
            <a:ext cx="914400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8348df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pic>
        <p:nvPicPr>
          <p:cNvPr id="3" name="Image 1" descr="/tmp/rasterized-gradient-53cd14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625971"/>
            <a:ext cx="5600700" cy="38915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26403" y="1121271"/>
            <a:ext cx="2691194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Sell
</a:t>
            </a:r>
            <a:pPr algn="ctr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Cars?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2415159" y="2317552"/>
            <a:ext cx="431368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500"/>
              </a:spcBef>
              <a:spcAft>
                <a:spcPts val="2250"/>
              </a:spcAft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100+ dealerships already saving hours every day</a:t>
            </a:r>
            <a:endParaRPr lang="en-US" sz="1350" dirty="0"/>
          </a:p>
        </p:txBody>
      </p:sp>
      <p:pic>
        <p:nvPicPr>
          <p:cNvPr id="6" name="Image 2" descr="/tmp/rasterized-gradient-34b3da5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450" y="2843213"/>
            <a:ext cx="1966764" cy="54471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748678" y="2995613"/>
            <a:ext cx="1384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Book a Demo</a:t>
            </a:r>
            <a:endParaRPr lang="en-US" sz="1350" dirty="0"/>
          </a:p>
        </p:txBody>
      </p:sp>
      <p:pic>
        <p:nvPicPr>
          <p:cNvPr id="8" name="Image 3" descr="/tmp/rasterized-gradient-d0f5e02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714" y="2843213"/>
            <a:ext cx="2071836" cy="54471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904891" y="2995613"/>
            <a:ext cx="149148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Start Free Trial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3130748" y="3626048"/>
            <a:ext cx="2882503" cy="396180"/>
          </a:xfrm>
          <a:prstGeom prst="roundRect">
            <a:avLst>
              <a:gd name="adj" fmla="val 48084"/>
            </a:avLst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3344811" y="3730823"/>
            <a:ext cx="24543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Ask about our current promotions!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3127141" y="4494014"/>
            <a:ext cx="147614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sales@autoposterpro.com</a:t>
            </a:r>
            <a:endParaRPr lang="en-US" sz="975" dirty="0"/>
          </a:p>
        </p:txBody>
      </p:sp>
      <p:sp>
        <p:nvSpPr>
          <p:cNvPr id="13" name="Text 7"/>
          <p:cNvSpPr/>
          <p:nvPr/>
        </p:nvSpPr>
        <p:spPr>
          <a:xfrm>
            <a:off x="4959492" y="4494014"/>
            <a:ext cx="105322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autoposterpro.com</a:t>
            </a:r>
            <a:endParaRPr lang="en-US" sz="975" dirty="0"/>
          </a:p>
        </p:txBody>
      </p:sp>
      <p:sp>
        <p:nvSpPr>
          <p:cNvPr id="14" name="Text 8"/>
          <p:cNvSpPr/>
          <p:nvPr/>
        </p:nvSpPr>
        <p:spPr>
          <a:xfrm>
            <a:off x="7676814" y="4453979"/>
            <a:ext cx="109694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AutoPosterPro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AutoPosterPro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AutoPosterPro - Sales Pitch Deck</dc:title>
  <dc:subject>Post to Facebook Marketplace 10x Faster</dc:subject>
  <dc:creator>AutoPosterPro</dc:creator>
  <cp:lastModifiedBy>AutoPosterPro</cp:lastModifiedBy>
  <cp:revision>1</cp:revision>
  <dcterms:created xsi:type="dcterms:W3CDTF">2026-01-26T09:35:06Z</dcterms:created>
  <dcterms:modified xsi:type="dcterms:W3CDTF">2026-01-26T09:35:06Z</dcterms:modified>
</cp:coreProperties>
</file>